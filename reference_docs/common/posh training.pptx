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Maragsa" charset="1" panose="00000000000000000000"/>
      <p:regular r:id="rId30"/>
    </p:embeddedFont>
    <p:embeddedFont>
      <p:font typeface="Harmattan" charset="1" panose="010005030000000200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2383526" y="3737410"/>
            <a:ext cx="13520947" cy="2529808"/>
          </a:xfrm>
          <a:prstGeom prst="rect">
            <a:avLst/>
          </a:prstGeom>
        </p:spPr>
        <p:txBody>
          <a:bodyPr anchor="t" rtlCol="false" tIns="0" lIns="0" bIns="0" rIns="0">
            <a:spAutoFit/>
          </a:bodyPr>
          <a:lstStyle/>
          <a:p>
            <a:pPr algn="ctr">
              <a:lnSpc>
                <a:spcPts val="20686"/>
              </a:lnSpc>
            </a:pPr>
            <a:r>
              <a:rPr lang="en-US" sz="14776">
                <a:solidFill>
                  <a:srgbClr val="FCFCE4"/>
                </a:solidFill>
                <a:latin typeface="Maragsa"/>
                <a:ea typeface="Maragsa"/>
                <a:cs typeface="Maragsa"/>
                <a:sym typeface="Maragsa"/>
              </a:rPr>
              <a:t>POSH TRAINING </a:t>
            </a:r>
          </a:p>
        </p:txBody>
      </p:sp>
      <p:sp>
        <p:nvSpPr>
          <p:cNvPr name="Freeform 6" id="6"/>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7" id="7"/>
          <p:cNvSpPr/>
          <p:nvPr/>
        </p:nvSpPr>
        <p:spPr>
          <a:xfrm flipH="false" flipV="false" rot="0">
            <a:off x="13765079" y="528939"/>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8"/>
            <a:stretch>
              <a:fillRect l="0" t="0" r="0" b="0"/>
            </a:stretch>
          </a:blipFill>
        </p:spPr>
      </p:sp>
      <p:sp>
        <p:nvSpPr>
          <p:cNvPr name="TextBox 8" id="8"/>
          <p:cNvSpPr txBox="true"/>
          <p:nvPr/>
        </p:nvSpPr>
        <p:spPr>
          <a:xfrm rot="0">
            <a:off x="6079426" y="6428584"/>
            <a:ext cx="6129148"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Presented by ﻿Guru Prasaad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13765079" y="653361"/>
            <a:ext cx="3494221" cy="3494221"/>
          </a:xfrm>
          <a:custGeom>
            <a:avLst/>
            <a:gdLst/>
            <a:ahLst/>
            <a:cxnLst/>
            <a:rect r="r" b="b" t="t" l="l"/>
            <a:pathLst>
              <a:path h="3494221" w="3494221">
                <a:moveTo>
                  <a:pt x="0" y="0"/>
                </a:moveTo>
                <a:lnTo>
                  <a:pt x="3494221" y="0"/>
                </a:lnTo>
                <a:lnTo>
                  <a:pt x="3494221" y="3494220"/>
                </a:lnTo>
                <a:lnTo>
                  <a:pt x="0" y="3494220"/>
                </a:lnTo>
                <a:lnTo>
                  <a:pt x="0" y="0"/>
                </a:lnTo>
                <a:close/>
              </a:path>
            </a:pathLst>
          </a:custGeom>
          <a:blipFill>
            <a:blip r:embed="rId8"/>
            <a:stretch>
              <a:fillRect l="0" t="0" r="0" b="0"/>
            </a:stretch>
          </a:blipFill>
        </p:spPr>
      </p:sp>
      <p:sp>
        <p:nvSpPr>
          <p:cNvPr name="TextBox 7" id="7"/>
          <p:cNvSpPr txBox="true"/>
          <p:nvPr/>
        </p:nvSpPr>
        <p:spPr>
          <a:xfrm rot="0">
            <a:off x="5138987" y="1971126"/>
            <a:ext cx="801002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List of Content</a:t>
            </a:r>
          </a:p>
        </p:txBody>
      </p:sp>
      <p:sp>
        <p:nvSpPr>
          <p:cNvPr name="TextBox 8" id="8"/>
          <p:cNvSpPr txBox="true"/>
          <p:nvPr/>
        </p:nvSpPr>
        <p:spPr>
          <a:xfrm rot="0">
            <a:off x="2667246" y="3688802"/>
            <a:ext cx="11420023" cy="5613400"/>
          </a:xfrm>
          <a:prstGeom prst="rect">
            <a:avLst/>
          </a:prstGeom>
        </p:spPr>
        <p:txBody>
          <a:bodyPr anchor="t" rtlCol="false" tIns="0" lIns="0" bIns="0" rIns="0">
            <a:spAutoFit/>
          </a:bodyPr>
          <a:lstStyle/>
          <a:p>
            <a:pPr algn="l">
              <a:lnSpc>
                <a:spcPts val="5599"/>
              </a:lnSpc>
            </a:pPr>
            <a:r>
              <a:rPr lang="en-US" sz="3999">
                <a:solidFill>
                  <a:srgbClr val="FCFCE4"/>
                </a:solidFill>
                <a:latin typeface="Harmattan"/>
                <a:ea typeface="Harmattan"/>
                <a:cs typeface="Harmattan"/>
                <a:sym typeface="Harmattan"/>
              </a:rPr>
              <a:t>Module  1 : Introduction to POSH</a:t>
            </a:r>
          </a:p>
          <a:p>
            <a:pPr algn="l">
              <a:lnSpc>
                <a:spcPts val="5599"/>
              </a:lnSpc>
            </a:pPr>
            <a:r>
              <a:rPr lang="en-US" sz="3999">
                <a:solidFill>
                  <a:srgbClr val="FCFCE4"/>
                </a:solidFill>
                <a:latin typeface="Harmattan"/>
                <a:ea typeface="Harmattan"/>
                <a:cs typeface="Harmattan"/>
                <a:sym typeface="Harmattan"/>
              </a:rPr>
              <a:t>﻿Module  2 : Understanding Sexual Harassment</a:t>
            </a:r>
          </a:p>
          <a:p>
            <a:pPr algn="l">
              <a:lnSpc>
                <a:spcPts val="5599"/>
              </a:lnSpc>
            </a:pPr>
            <a:r>
              <a:rPr lang="en-US" sz="3999">
                <a:solidFill>
                  <a:srgbClr val="FCFCE4"/>
                </a:solidFill>
                <a:latin typeface="Harmattan"/>
                <a:ea typeface="Harmattan"/>
                <a:cs typeface="Harmattan"/>
                <a:sym typeface="Harmattan"/>
              </a:rPr>
              <a:t>﻿Module  3 : Professional Behaviour and Passenger Safety</a:t>
            </a:r>
          </a:p>
          <a:p>
            <a:pPr algn="l">
              <a:lnSpc>
                <a:spcPts val="5599"/>
              </a:lnSpc>
            </a:pPr>
            <a:r>
              <a:rPr lang="en-US" sz="3999">
                <a:solidFill>
                  <a:srgbClr val="FCFCE4"/>
                </a:solidFill>
                <a:latin typeface="Harmattan"/>
                <a:ea typeface="Harmattan"/>
                <a:cs typeface="Harmattan"/>
                <a:sym typeface="Harmattan"/>
              </a:rPr>
              <a:t>﻿Module 4 :  Handling Complaints and Consequences</a:t>
            </a:r>
          </a:p>
          <a:p>
            <a:pPr algn="l">
              <a:lnSpc>
                <a:spcPts val="5599"/>
              </a:lnSpc>
            </a:pPr>
            <a:r>
              <a:rPr lang="en-US" sz="3999">
                <a:solidFill>
                  <a:srgbClr val="FCFCE4"/>
                </a:solidFill>
                <a:latin typeface="Harmattan"/>
                <a:ea typeface="Harmattan"/>
                <a:cs typeface="Harmattan"/>
                <a:sym typeface="Harmattan"/>
              </a:rPr>
              <a:t>﻿Module 5 :Creating a Safe Environment for Women Passengers</a:t>
            </a:r>
          </a:p>
          <a:p>
            <a:pPr algn="l">
              <a:lnSpc>
                <a:spcPts val="5599"/>
              </a:lnSpc>
            </a:pPr>
            <a:r>
              <a:rPr lang="en-US" sz="3999">
                <a:solidFill>
                  <a:srgbClr val="FCFCE4"/>
                </a:solidFill>
                <a:latin typeface="Harmattan"/>
                <a:ea typeface="Harmattan"/>
                <a:cs typeface="Harmattan"/>
                <a:sym typeface="Harmattan"/>
              </a:rPr>
              <a:t>Module 6 :  What to Do If You Are Harassed</a:t>
            </a:r>
          </a:p>
          <a:p>
            <a:pPr algn="l">
              <a:lnSpc>
                <a:spcPts val="5599"/>
              </a:lnSpc>
            </a:pPr>
            <a:r>
              <a:rPr lang="en-US" sz="3999">
                <a:solidFill>
                  <a:srgbClr val="FCFCE4"/>
                </a:solidFill>
                <a:latin typeface="Harmattan"/>
                <a:ea typeface="Harmattan"/>
                <a:cs typeface="Harmattan"/>
                <a:sym typeface="Harmattan"/>
              </a:rPr>
              <a:t>Module 7 :  Summary and Commitment to Safety</a:t>
            </a:r>
          </a:p>
          <a:p>
            <a:pPr algn="l">
              <a:lnSpc>
                <a:spcPts val="55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14014011" y="726214"/>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8"/>
            <a:stretch>
              <a:fillRect l="0" t="0" r="0" b="0"/>
            </a:stretch>
          </a:blipFill>
        </p:spPr>
      </p:sp>
      <p:sp>
        <p:nvSpPr>
          <p:cNvPr name="TextBox 7" id="7"/>
          <p:cNvSpPr txBox="true"/>
          <p:nvPr/>
        </p:nvSpPr>
        <p:spPr>
          <a:xfrm rot="0">
            <a:off x="3669398" y="1095375"/>
            <a:ext cx="9479615"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Introduction to POSH </a:t>
            </a:r>
          </a:p>
        </p:txBody>
      </p:sp>
      <p:sp>
        <p:nvSpPr>
          <p:cNvPr name="TextBox 8" id="8"/>
          <p:cNvSpPr txBox="true"/>
          <p:nvPr/>
        </p:nvSpPr>
        <p:spPr>
          <a:xfrm rot="0">
            <a:off x="2383526" y="2622096"/>
            <a:ext cx="12120313" cy="7023100"/>
          </a:xfrm>
          <a:prstGeom prst="rect">
            <a:avLst/>
          </a:prstGeom>
        </p:spPr>
        <p:txBody>
          <a:bodyPr anchor="t" rtlCol="false" tIns="0" lIns="0" bIns="0" rIns="0">
            <a:spAutoFit/>
          </a:bodyPr>
          <a:lstStyle/>
          <a:p>
            <a:pPr algn="ctr">
              <a:lnSpc>
                <a:spcPts val="5599"/>
              </a:lnSpc>
            </a:pPr>
            <a:r>
              <a:rPr lang="en-US" sz="3999">
                <a:solidFill>
                  <a:srgbClr val="FCFCE4"/>
                </a:solidFill>
                <a:latin typeface="Harmattan"/>
                <a:ea typeface="Harmattan"/>
                <a:cs typeface="Harmattan"/>
                <a:sym typeface="Harmattan"/>
              </a:rPr>
              <a:t>- It is mandated by law to ensure the safety of women in all workplaces, including public transportation like cabs.</a:t>
            </a:r>
          </a:p>
          <a:p>
            <a:pPr algn="ctr">
              <a:lnSpc>
                <a:spcPts val="5599"/>
              </a:lnSpc>
            </a:pPr>
          </a:p>
          <a:p>
            <a:pPr algn="ctr">
              <a:lnSpc>
                <a:spcPts val="5599"/>
              </a:lnSpc>
            </a:pPr>
            <a:r>
              <a:rPr lang="en-US" sz="3999">
                <a:solidFill>
                  <a:srgbClr val="FCFCE4"/>
                </a:solidFill>
                <a:latin typeface="Harmattan"/>
                <a:ea typeface="Harmattan"/>
                <a:cs typeface="Harmattan"/>
                <a:sym typeface="Harmattan"/>
              </a:rPr>
              <a:t>**Example:**</a:t>
            </a:r>
          </a:p>
          <a:p>
            <a:pPr algn="ctr">
              <a:lnSpc>
                <a:spcPts val="5599"/>
              </a:lnSpc>
            </a:pPr>
            <a:r>
              <a:rPr lang="en-US" sz="3999">
                <a:solidFill>
                  <a:srgbClr val="FCFCE4"/>
                </a:solidFill>
                <a:latin typeface="Harmattan"/>
                <a:ea typeface="Harmattan"/>
                <a:cs typeface="Harmattan"/>
                <a:sym typeface="Harmattan"/>
              </a:rPr>
              <a:t>Imagine a female passenger who travels late at night feels unsafe due to the behavior of a driver. If cab drivers are trained in POSH, they will know how to maintain professionalism and avoid behaviors that may be perceived as threatening, such as asking personal questions or engaging in inappropriate conversations.</a:t>
            </a:r>
          </a:p>
          <a:p>
            <a:pPr algn="ctr">
              <a:lnSpc>
                <a:spcPts val="55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5512190" y="-618986"/>
            <a:ext cx="3494221" cy="3494221"/>
          </a:xfrm>
          <a:custGeom>
            <a:avLst/>
            <a:gdLst/>
            <a:ahLst/>
            <a:cxnLst/>
            <a:rect r="r" b="b" t="t" l="l"/>
            <a:pathLst>
              <a:path h="3494221" w="3494221">
                <a:moveTo>
                  <a:pt x="0" y="0"/>
                </a:moveTo>
                <a:lnTo>
                  <a:pt x="3494220" y="0"/>
                </a:lnTo>
                <a:lnTo>
                  <a:pt x="3494220" y="3494221"/>
                </a:lnTo>
                <a:lnTo>
                  <a:pt x="0" y="3494221"/>
                </a:lnTo>
                <a:lnTo>
                  <a:pt x="0" y="0"/>
                </a:lnTo>
                <a:close/>
              </a:path>
            </a:pathLst>
          </a:custGeom>
          <a:blipFill>
            <a:blip r:embed="rId2"/>
            <a:stretch>
              <a:fillRect l="0" t="0" r="0" b="0"/>
            </a:stretch>
          </a:blipFill>
        </p:spPr>
      </p:sp>
      <p:sp>
        <p:nvSpPr>
          <p:cNvPr name="TextBox 3" id="3"/>
          <p:cNvSpPr txBox="true"/>
          <p:nvPr/>
        </p:nvSpPr>
        <p:spPr>
          <a:xfrm rot="0">
            <a:off x="-4383" y="627563"/>
            <a:ext cx="11715947"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2: Understanding Sexual Harassment</a:t>
            </a:r>
          </a:p>
        </p:txBody>
      </p:sp>
      <p:sp>
        <p:nvSpPr>
          <p:cNvPr name="TextBox 4" id="4"/>
          <p:cNvSpPr txBox="true"/>
          <p:nvPr/>
        </p:nvSpPr>
        <p:spPr>
          <a:xfrm rot="0">
            <a:off x="0" y="3252764"/>
            <a:ext cx="18288000" cy="7213958"/>
          </a:xfrm>
          <a:prstGeom prst="rect">
            <a:avLst/>
          </a:prstGeom>
        </p:spPr>
        <p:txBody>
          <a:bodyPr anchor="t" rtlCol="false" tIns="0" lIns="0" bIns="0" rIns="0">
            <a:spAutoFit/>
          </a:bodyPr>
          <a:lstStyle/>
          <a:p>
            <a:pPr algn="ctr">
              <a:lnSpc>
                <a:spcPts val="7155"/>
              </a:lnSpc>
              <a:spcBef>
                <a:spcPct val="0"/>
              </a:spcBef>
            </a:pPr>
            <a:r>
              <a:rPr lang="en-US" sz="5110">
                <a:solidFill>
                  <a:srgbClr val="FCFCE4"/>
                </a:solidFill>
                <a:latin typeface="Harmattan"/>
                <a:ea typeface="Harmattan"/>
                <a:cs typeface="Harmattan"/>
                <a:sym typeface="Harmattan"/>
              </a:rPr>
              <a:t>Learn what constitutes sexual harassment and the different forms it can take.</a:t>
            </a:r>
          </a:p>
          <a:p>
            <a:pPr algn="ctr">
              <a:lnSpc>
                <a:spcPts val="7155"/>
              </a:lnSpc>
              <a:spcBef>
                <a:spcPct val="0"/>
              </a:spcBef>
            </a:pPr>
            <a:r>
              <a:rPr lang="en-US" sz="5110">
                <a:solidFill>
                  <a:srgbClr val="FCFCE4"/>
                </a:solidFill>
                <a:latin typeface="Harmattan"/>
                <a:ea typeface="Harmattan"/>
                <a:cs typeface="Harmattan"/>
                <a:sym typeface="Harmattan"/>
              </a:rPr>
              <a:t>1. Physical Harassment</a:t>
            </a:r>
          </a:p>
          <a:p>
            <a:pPr algn="l">
              <a:lnSpc>
                <a:spcPts val="7155"/>
              </a:lnSpc>
              <a:spcBef>
                <a:spcPct val="0"/>
              </a:spcBef>
            </a:pPr>
            <a:r>
              <a:rPr lang="en-US" sz="5110">
                <a:solidFill>
                  <a:srgbClr val="FCFCE4"/>
                </a:solidFill>
                <a:latin typeface="Harmattan"/>
                <a:ea typeface="Harmattan"/>
                <a:cs typeface="Harmattan"/>
                <a:sym typeface="Harmattan"/>
              </a:rPr>
              <a:t> Unwanted physical contact, inappropriate touching, or even brushing against someone unnecessarily.</a:t>
            </a:r>
          </a:p>
          <a:p>
            <a:pPr algn="l">
              <a:lnSpc>
                <a:spcPts val="7155"/>
              </a:lnSpc>
              <a:spcBef>
                <a:spcPct val="0"/>
              </a:spcBef>
            </a:pPr>
            <a:r>
              <a:rPr lang="en-US" sz="5110">
                <a:solidFill>
                  <a:srgbClr val="FCFCE4"/>
                </a:solidFill>
                <a:latin typeface="Harmattan"/>
                <a:ea typeface="Harmattan"/>
                <a:cs typeface="Harmattan"/>
                <a:sym typeface="Harmattan"/>
              </a:rPr>
              <a:t>Example:A driver tries to help a passenger with her luggage but touches her inappropriately or gets too close under the pretext of helping. Even though the act might seem minor, it can make the passenger uncomfortable and is considered harassment.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1715947"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2: Understanding Sexual Harassment</a:t>
            </a:r>
          </a:p>
        </p:txBody>
      </p:sp>
      <p:sp>
        <p:nvSpPr>
          <p:cNvPr name="TextBox 4" id="4"/>
          <p:cNvSpPr txBox="true"/>
          <p:nvPr/>
        </p:nvSpPr>
        <p:spPr>
          <a:xfrm rot="0">
            <a:off x="0" y="3733800"/>
            <a:ext cx="18288000" cy="6250942"/>
          </a:xfrm>
          <a:prstGeom prst="rect">
            <a:avLst/>
          </a:prstGeom>
        </p:spPr>
        <p:txBody>
          <a:bodyPr anchor="t" rtlCol="false" tIns="0" lIns="0" bIns="0" rIns="0">
            <a:spAutoFit/>
          </a:bodyPr>
          <a:lstStyle/>
          <a:p>
            <a:pPr algn="ctr">
              <a:lnSpc>
                <a:spcPts val="8259"/>
              </a:lnSpc>
              <a:spcBef>
                <a:spcPct val="0"/>
              </a:spcBef>
            </a:pPr>
            <a:r>
              <a:rPr lang="en-US" sz="5899">
                <a:solidFill>
                  <a:srgbClr val="FCFCE4"/>
                </a:solidFill>
                <a:latin typeface="Harmattan"/>
                <a:ea typeface="Harmattan"/>
                <a:cs typeface="Harmattan"/>
                <a:sym typeface="Harmattan"/>
              </a:rPr>
              <a:t> 2. Verbal Harassment</a:t>
            </a:r>
          </a:p>
          <a:p>
            <a:pPr algn="ctr">
              <a:lnSpc>
                <a:spcPts val="8259"/>
              </a:lnSpc>
              <a:spcBef>
                <a:spcPct val="0"/>
              </a:spcBef>
            </a:pPr>
            <a:r>
              <a:rPr lang="en-US" sz="5899">
                <a:solidFill>
                  <a:srgbClr val="FCFCE4"/>
                </a:solidFill>
                <a:latin typeface="Harmattan"/>
                <a:ea typeface="Harmattan"/>
                <a:cs typeface="Harmattan"/>
                <a:sym typeface="Harmattan"/>
              </a:rPr>
              <a:t>Explanation: Making inappropriate comments, using lewd language, or asking intrusive questions.</a:t>
            </a:r>
          </a:p>
          <a:p>
            <a:pPr algn="l">
              <a:lnSpc>
                <a:spcPts val="8259"/>
              </a:lnSpc>
              <a:spcBef>
                <a:spcPct val="0"/>
              </a:spcBef>
            </a:pPr>
            <a:r>
              <a:rPr lang="en-US" sz="5899">
                <a:solidFill>
                  <a:srgbClr val="FCFCE4"/>
                </a:solidFill>
                <a:latin typeface="Harmattan"/>
                <a:ea typeface="Harmattan"/>
                <a:cs typeface="Harmattan"/>
                <a:sym typeface="Harmattan"/>
              </a:rPr>
              <a:t>Example:If a driver makes comments like, "You look beautiful today," or "Are you single?" it can make the passenger feel uncomfortable and is considered verbal harassment.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1715947"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2: Understanding Sexual Harassment</a:t>
            </a:r>
          </a:p>
        </p:txBody>
      </p:sp>
      <p:sp>
        <p:nvSpPr>
          <p:cNvPr name="TextBox 4" id="4"/>
          <p:cNvSpPr txBox="true"/>
          <p:nvPr/>
        </p:nvSpPr>
        <p:spPr>
          <a:xfrm rot="0">
            <a:off x="0" y="3733800"/>
            <a:ext cx="18288000" cy="7362827"/>
          </a:xfrm>
          <a:prstGeom prst="rect">
            <a:avLst/>
          </a:prstGeom>
        </p:spPr>
        <p:txBody>
          <a:bodyPr anchor="t" rtlCol="false" tIns="0" lIns="0" bIns="0" rIns="0">
            <a:spAutoFit/>
          </a:bodyPr>
          <a:lstStyle/>
          <a:p>
            <a:pPr algn="ctr">
              <a:lnSpc>
                <a:spcPts val="8399"/>
              </a:lnSpc>
            </a:pPr>
            <a:r>
              <a:rPr lang="en-US" sz="5999">
                <a:solidFill>
                  <a:srgbClr val="FCFCE4"/>
                </a:solidFill>
                <a:latin typeface="Harmattan"/>
                <a:ea typeface="Harmattan"/>
                <a:cs typeface="Harmattan"/>
                <a:sym typeface="Harmattan"/>
              </a:rPr>
              <a:t>Non-verbal Harassment</a:t>
            </a:r>
          </a:p>
          <a:p>
            <a:pPr algn="l">
              <a:lnSpc>
                <a:spcPts val="8399"/>
              </a:lnSpc>
            </a:pPr>
            <a:r>
              <a:rPr lang="en-US" sz="5999">
                <a:solidFill>
                  <a:srgbClr val="FCFCE4"/>
                </a:solidFill>
                <a:latin typeface="Harmattan"/>
                <a:ea typeface="Harmattan"/>
                <a:cs typeface="Harmattan"/>
                <a:sym typeface="Harmattan"/>
              </a:rPr>
              <a:t>Explanation: Staring, making gestures, or playing inappropriate media in the car.</a:t>
            </a:r>
          </a:p>
          <a:p>
            <a:pPr algn="l">
              <a:lnSpc>
                <a:spcPts val="8399"/>
              </a:lnSpc>
            </a:pPr>
            <a:r>
              <a:rPr lang="en-US" sz="5999">
                <a:solidFill>
                  <a:srgbClr val="FCFCE4"/>
                </a:solidFill>
                <a:latin typeface="Harmattan"/>
                <a:ea typeface="Harmattan"/>
                <a:cs typeface="Harmattan"/>
                <a:sym typeface="Harmattan"/>
              </a:rPr>
              <a:t>Example:A driver stares continuously at the passenger through the rearview mirror or plays a song with offensive or suggestive lyrics. This non-verbal behavior creates discomfort for the passenger.</a:t>
            </a:r>
          </a:p>
          <a:p>
            <a:pPr algn="l">
              <a:lnSpc>
                <a:spcPts val="83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2312770" y="1396280"/>
            <a:ext cx="18397957" cy="251649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3: Professional Behavior and Passenger Safety</a:t>
            </a:r>
          </a:p>
          <a:p>
            <a:pPr algn="ctr">
              <a:lnSpc>
                <a:spcPts val="6720"/>
              </a:lnSpc>
            </a:pPr>
          </a:p>
          <a:p>
            <a:pPr algn="ctr">
              <a:lnSpc>
                <a:spcPts val="6720"/>
              </a:lnSpc>
            </a:pPr>
          </a:p>
        </p:txBody>
      </p:sp>
      <p:sp>
        <p:nvSpPr>
          <p:cNvPr name="TextBox 4" id="4"/>
          <p:cNvSpPr txBox="true"/>
          <p:nvPr/>
        </p:nvSpPr>
        <p:spPr>
          <a:xfrm rot="0">
            <a:off x="0" y="4772342"/>
            <a:ext cx="18288000" cy="4526282"/>
          </a:xfrm>
          <a:prstGeom prst="rect">
            <a:avLst/>
          </a:prstGeom>
        </p:spPr>
        <p:txBody>
          <a:bodyPr anchor="t" rtlCol="false" tIns="0" lIns="0" bIns="0" rIns="0">
            <a:spAutoFit/>
          </a:bodyPr>
          <a:lstStyle/>
          <a:p>
            <a:pPr algn="ctr">
              <a:lnSpc>
                <a:spcPts val="9239"/>
              </a:lnSpc>
            </a:pPr>
            <a:r>
              <a:rPr lang="en-US" sz="6599">
                <a:solidFill>
                  <a:srgbClr val="FCFCE4"/>
                </a:solidFill>
                <a:latin typeface="Harmattan"/>
                <a:ea typeface="Harmattan"/>
                <a:cs typeface="Harmattan"/>
                <a:sym typeface="Harmattan"/>
              </a:rPr>
              <a:t> </a:t>
            </a:r>
            <a:r>
              <a:rPr lang="en-US" sz="6599">
                <a:solidFill>
                  <a:srgbClr val="FCFCE4"/>
                </a:solidFill>
                <a:latin typeface="Harmattan"/>
                <a:ea typeface="Harmattan"/>
                <a:cs typeface="Harmattan"/>
                <a:sym typeface="Harmattan"/>
              </a:rPr>
              <a:t>Objective: </a:t>
            </a:r>
          </a:p>
          <a:p>
            <a:pPr algn="ctr">
              <a:lnSpc>
                <a:spcPts val="9239"/>
              </a:lnSpc>
            </a:pPr>
            <a:r>
              <a:rPr lang="en-US" sz="6599">
                <a:solidFill>
                  <a:srgbClr val="FCFCE4"/>
                </a:solidFill>
                <a:latin typeface="Harmattan"/>
                <a:ea typeface="Harmattan"/>
                <a:cs typeface="Harmattan"/>
                <a:sym typeface="Harmattan"/>
              </a:rPr>
              <a:t>Learn best practices for maintaining professionalism and ensuring passenger safety.</a:t>
            </a:r>
          </a:p>
          <a:p>
            <a:pPr algn="ctr">
              <a:lnSpc>
                <a:spcPts val="8399"/>
              </a:lnSpc>
            </a:pPr>
          </a:p>
        </p:txBody>
      </p:sp>
      <p:sp>
        <p:nvSpPr>
          <p:cNvPr name="TextBox 5" id="5"/>
          <p:cNvSpPr txBox="true"/>
          <p:nvPr/>
        </p:nvSpPr>
        <p:spPr>
          <a:xfrm rot="0">
            <a:off x="411659" y="6581458"/>
            <a:ext cx="17464683" cy="198120"/>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000000"/>
                </a:solidFill>
                <a:latin typeface="Harmattan"/>
                <a:ea typeface="Harmattan"/>
                <a:cs typeface="Harmattan"/>
                <a:sym typeface="Harmattan"/>
              </a:rPr>
              <a:t>Harmattan</a:t>
            </a:r>
          </a:p>
        </p:txBody>
      </p:sp>
      <p:sp>
        <p:nvSpPr>
          <p:cNvPr name="TextBox 6" id="6"/>
          <p:cNvSpPr txBox="true"/>
          <p:nvPr/>
        </p:nvSpPr>
        <p:spPr>
          <a:xfrm rot="0">
            <a:off x="0" y="8944294"/>
            <a:ext cx="18288000" cy="198120"/>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000000"/>
                </a:solidFill>
                <a:latin typeface="Harmattan"/>
                <a:ea typeface="Harmattan"/>
                <a:cs typeface="Harmattan"/>
                <a:sym typeface="Harmattan"/>
              </a:rPr>
              <a:t>Harmattan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3 : Professional Behavior and Passenger Safety</a:t>
            </a:r>
          </a:p>
        </p:txBody>
      </p:sp>
      <p:sp>
        <p:nvSpPr>
          <p:cNvPr name="TextBox 4" id="4"/>
          <p:cNvSpPr txBox="true"/>
          <p:nvPr/>
        </p:nvSpPr>
        <p:spPr>
          <a:xfrm rot="0">
            <a:off x="306933" y="3657007"/>
            <a:ext cx="18288000" cy="8138797"/>
          </a:xfrm>
          <a:prstGeom prst="rect">
            <a:avLst/>
          </a:prstGeom>
        </p:spPr>
        <p:txBody>
          <a:bodyPr anchor="t" rtlCol="false" tIns="0" lIns="0" bIns="0" rIns="0">
            <a:spAutoFit/>
          </a:bodyPr>
          <a:lstStyle/>
          <a:p>
            <a:pPr algn="l">
              <a:lnSpc>
                <a:spcPts val="6859"/>
              </a:lnSpc>
            </a:pPr>
            <a:r>
              <a:rPr lang="en-US" sz="4899">
                <a:solidFill>
                  <a:srgbClr val="FCFCE4"/>
                </a:solidFill>
                <a:latin typeface="Harmattan"/>
                <a:ea typeface="Harmattan"/>
                <a:cs typeface="Harmattan"/>
                <a:sym typeface="Harmattan"/>
              </a:rPr>
              <a:t>Professional Behavior Guidelines:</a:t>
            </a:r>
          </a:p>
          <a:p>
            <a:pPr algn="l">
              <a:lnSpc>
                <a:spcPts val="6859"/>
              </a:lnSpc>
            </a:pPr>
            <a:r>
              <a:rPr lang="en-US" sz="4899">
                <a:solidFill>
                  <a:srgbClr val="FCFCE4"/>
                </a:solidFill>
                <a:latin typeface="Harmattan"/>
                <a:ea typeface="Harmattan"/>
                <a:cs typeface="Harmattan"/>
                <a:sym typeface="Harmattan"/>
              </a:rPr>
              <a:t>Explanation: Always be polite and avoid unnecessary conversations that may make the passenger uncomfortable.</a:t>
            </a:r>
          </a:p>
          <a:p>
            <a:pPr algn="l">
              <a:lnSpc>
                <a:spcPts val="6859"/>
              </a:lnSpc>
            </a:pPr>
            <a:r>
              <a:rPr lang="en-US" sz="4899">
                <a:solidFill>
                  <a:srgbClr val="FCFCE4"/>
                </a:solidFill>
                <a:latin typeface="Harmattan"/>
                <a:ea typeface="Harmattan"/>
                <a:cs typeface="Harmattan"/>
                <a:sym typeface="Harmattan"/>
              </a:rPr>
              <a:t>-Example: A driver who greets the passenger with a polite "Good morning" and then focuses on the ride is being professional. In contrast, a driver who repeatedly asks personal questions like, "Where are you going after this?" or "Can I get your number?" is being unprofessional.</a:t>
            </a:r>
          </a:p>
          <a:p>
            <a:pPr algn="l">
              <a:lnSpc>
                <a:spcPts val="8399"/>
              </a:lnSpc>
            </a:pPr>
          </a:p>
          <a:p>
            <a:pPr algn="l">
              <a:lnSpc>
                <a:spcPts val="83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3 : Professional Behavior and Passenger Safety</a:t>
            </a:r>
          </a:p>
        </p:txBody>
      </p:sp>
      <p:sp>
        <p:nvSpPr>
          <p:cNvPr name="TextBox 4" id="4"/>
          <p:cNvSpPr txBox="true"/>
          <p:nvPr/>
        </p:nvSpPr>
        <p:spPr>
          <a:xfrm rot="0">
            <a:off x="153466" y="4350329"/>
            <a:ext cx="18134534" cy="8486142"/>
          </a:xfrm>
          <a:prstGeom prst="rect">
            <a:avLst/>
          </a:prstGeom>
        </p:spPr>
        <p:txBody>
          <a:bodyPr anchor="t" rtlCol="false" tIns="0" lIns="0" bIns="0" rIns="0">
            <a:spAutoFit/>
          </a:bodyPr>
          <a:lstStyle/>
          <a:p>
            <a:pPr algn="l">
              <a:lnSpc>
                <a:spcPts val="7139"/>
              </a:lnSpc>
            </a:pPr>
            <a:r>
              <a:rPr lang="en-US" sz="5099">
                <a:solidFill>
                  <a:srgbClr val="FCFCE4"/>
                </a:solidFill>
                <a:latin typeface="Harmattan"/>
                <a:ea typeface="Harmattan"/>
                <a:cs typeface="Harmattan"/>
                <a:sym typeface="Harmattan"/>
              </a:rPr>
              <a:t>Safety Measures:</a:t>
            </a:r>
          </a:p>
          <a:p>
            <a:pPr algn="l">
              <a:lnSpc>
                <a:spcPts val="7139"/>
              </a:lnSpc>
            </a:pPr>
            <a:r>
              <a:rPr lang="en-US" sz="5099">
                <a:solidFill>
                  <a:srgbClr val="FCFCE4"/>
                </a:solidFill>
                <a:latin typeface="Harmattan"/>
                <a:ea typeface="Harmattan"/>
                <a:cs typeface="Harmattan"/>
                <a:sym typeface="Harmattan"/>
              </a:rPr>
              <a:t>Explanation:Ensure that passengers feel safe, especially when traveling alone or at night.</a:t>
            </a:r>
          </a:p>
          <a:p>
            <a:pPr algn="l">
              <a:lnSpc>
                <a:spcPts val="7139"/>
              </a:lnSpc>
            </a:pPr>
            <a:r>
              <a:rPr lang="en-US" sz="5099">
                <a:solidFill>
                  <a:srgbClr val="FCFCE4"/>
                </a:solidFill>
                <a:latin typeface="Harmattan"/>
                <a:ea typeface="Harmattan"/>
                <a:cs typeface="Harmattan"/>
                <a:sym typeface="Harmattan"/>
              </a:rPr>
              <a:t>Example: If a passenger asks the driver to take a different route, the driver should politely explain the safest route and ensure that the passenger feels comfortable with the change.</a:t>
            </a:r>
          </a:p>
          <a:p>
            <a:pPr algn="l">
              <a:lnSpc>
                <a:spcPts val="7139"/>
              </a:lnSpc>
            </a:pPr>
          </a:p>
          <a:p>
            <a:pPr algn="l">
              <a:lnSpc>
                <a:spcPts val="8679"/>
              </a:lnSpc>
            </a:pPr>
          </a:p>
          <a:p>
            <a:pPr algn="l">
              <a:lnSpc>
                <a:spcPts val="867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3 : Professional Behavior and Passenger Safety</a:t>
            </a:r>
          </a:p>
        </p:txBody>
      </p:sp>
      <p:sp>
        <p:nvSpPr>
          <p:cNvPr name="TextBox 4" id="4"/>
          <p:cNvSpPr txBox="true"/>
          <p:nvPr/>
        </p:nvSpPr>
        <p:spPr>
          <a:xfrm rot="0">
            <a:off x="153466" y="4350329"/>
            <a:ext cx="18134534" cy="8486142"/>
          </a:xfrm>
          <a:prstGeom prst="rect">
            <a:avLst/>
          </a:prstGeom>
        </p:spPr>
        <p:txBody>
          <a:bodyPr anchor="t" rtlCol="false" tIns="0" lIns="0" bIns="0" rIns="0">
            <a:spAutoFit/>
          </a:bodyPr>
          <a:lstStyle/>
          <a:p>
            <a:pPr algn="l">
              <a:lnSpc>
                <a:spcPts val="7139"/>
              </a:lnSpc>
            </a:pPr>
            <a:r>
              <a:rPr lang="en-US" sz="5099">
                <a:solidFill>
                  <a:srgbClr val="FCFCE4"/>
                </a:solidFill>
                <a:latin typeface="Harmattan"/>
                <a:ea typeface="Harmattan"/>
                <a:cs typeface="Harmattan"/>
                <a:sym typeface="Harmattan"/>
              </a:rPr>
              <a:t>Safety Measures:</a:t>
            </a:r>
          </a:p>
          <a:p>
            <a:pPr algn="l">
              <a:lnSpc>
                <a:spcPts val="7139"/>
              </a:lnSpc>
            </a:pPr>
            <a:r>
              <a:rPr lang="en-US" sz="5099">
                <a:solidFill>
                  <a:srgbClr val="FCFCE4"/>
                </a:solidFill>
                <a:latin typeface="Harmattan"/>
                <a:ea typeface="Harmattan"/>
                <a:cs typeface="Harmattan"/>
                <a:sym typeface="Harmattan"/>
              </a:rPr>
              <a:t>Explanation:Ensure that passengers feel safe, especially when traveling alone or at night.</a:t>
            </a:r>
          </a:p>
          <a:p>
            <a:pPr algn="l">
              <a:lnSpc>
                <a:spcPts val="7139"/>
              </a:lnSpc>
            </a:pPr>
            <a:r>
              <a:rPr lang="en-US" sz="5099">
                <a:solidFill>
                  <a:srgbClr val="FCFCE4"/>
                </a:solidFill>
                <a:latin typeface="Harmattan"/>
                <a:ea typeface="Harmattan"/>
                <a:cs typeface="Harmattan"/>
                <a:sym typeface="Harmattan"/>
              </a:rPr>
              <a:t>Example: If a passenger asks the driver to take a different route, the driver should politely explain the safest route and ensure that the passenger feels comfortable with the change.</a:t>
            </a:r>
          </a:p>
          <a:p>
            <a:pPr algn="l">
              <a:lnSpc>
                <a:spcPts val="7139"/>
              </a:lnSpc>
            </a:pPr>
          </a:p>
          <a:p>
            <a:pPr algn="l">
              <a:lnSpc>
                <a:spcPts val="8679"/>
              </a:lnSpc>
            </a:pPr>
          </a:p>
          <a:p>
            <a:pPr algn="l">
              <a:lnSpc>
                <a:spcPts val="867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2312770" y="1396280"/>
            <a:ext cx="18397957" cy="251649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4 : Handling Complaints and Consequences</a:t>
            </a:r>
          </a:p>
          <a:p>
            <a:pPr algn="ctr">
              <a:lnSpc>
                <a:spcPts val="6720"/>
              </a:lnSpc>
            </a:pPr>
          </a:p>
          <a:p>
            <a:pPr algn="ctr">
              <a:lnSpc>
                <a:spcPts val="6720"/>
              </a:lnSpc>
            </a:pPr>
          </a:p>
        </p:txBody>
      </p:sp>
      <p:sp>
        <p:nvSpPr>
          <p:cNvPr name="TextBox 4" id="4"/>
          <p:cNvSpPr txBox="true"/>
          <p:nvPr/>
        </p:nvSpPr>
        <p:spPr>
          <a:xfrm rot="0">
            <a:off x="0" y="4772342"/>
            <a:ext cx="18288000" cy="5697857"/>
          </a:xfrm>
          <a:prstGeom prst="rect">
            <a:avLst/>
          </a:prstGeom>
        </p:spPr>
        <p:txBody>
          <a:bodyPr anchor="t" rtlCol="false" tIns="0" lIns="0" bIns="0" rIns="0">
            <a:spAutoFit/>
          </a:bodyPr>
          <a:lstStyle/>
          <a:p>
            <a:pPr algn="ctr">
              <a:lnSpc>
                <a:spcPts val="9239"/>
              </a:lnSpc>
            </a:pPr>
            <a:r>
              <a:rPr lang="en-US" sz="6599">
                <a:solidFill>
                  <a:srgbClr val="FCFCE4"/>
                </a:solidFill>
                <a:latin typeface="Harmattan"/>
                <a:ea typeface="Harmattan"/>
                <a:cs typeface="Harmattan"/>
                <a:sym typeface="Harmattan"/>
              </a:rPr>
              <a:t> </a:t>
            </a:r>
            <a:r>
              <a:rPr lang="en-US" sz="6599">
                <a:solidFill>
                  <a:srgbClr val="FCFCE4"/>
                </a:solidFill>
                <a:latin typeface="Harmattan"/>
                <a:ea typeface="Harmattan"/>
                <a:cs typeface="Harmattan"/>
                <a:sym typeface="Harmattan"/>
              </a:rPr>
              <a:t>Objective: </a:t>
            </a:r>
          </a:p>
          <a:p>
            <a:pPr algn="ctr">
              <a:lnSpc>
                <a:spcPts val="9239"/>
              </a:lnSpc>
            </a:pPr>
            <a:r>
              <a:rPr lang="en-US" sz="6599">
                <a:solidFill>
                  <a:srgbClr val="FCFCE4"/>
                </a:solidFill>
                <a:latin typeface="Harmattan"/>
                <a:ea typeface="Harmattan"/>
                <a:cs typeface="Harmattan"/>
                <a:sym typeface="Harmattan"/>
              </a:rPr>
              <a:t>Understand the importance of handling complaints effectively and the legal consequences of sexual harassment.</a:t>
            </a:r>
          </a:p>
          <a:p>
            <a:pPr algn="ctr">
              <a:lnSpc>
                <a:spcPts val="9239"/>
              </a:lnSpc>
            </a:pPr>
          </a:p>
          <a:p>
            <a:pPr algn="ctr">
              <a:lnSpc>
                <a:spcPts val="8399"/>
              </a:lnSpc>
            </a:pPr>
          </a:p>
        </p:txBody>
      </p:sp>
      <p:sp>
        <p:nvSpPr>
          <p:cNvPr name="TextBox 5" id="5"/>
          <p:cNvSpPr txBox="true"/>
          <p:nvPr/>
        </p:nvSpPr>
        <p:spPr>
          <a:xfrm rot="0">
            <a:off x="411659" y="6581458"/>
            <a:ext cx="17464683" cy="198120"/>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000000"/>
                </a:solidFill>
                <a:latin typeface="Harmattan"/>
                <a:ea typeface="Harmattan"/>
                <a:cs typeface="Harmattan"/>
                <a:sym typeface="Harmattan"/>
              </a:rPr>
              <a:t>Harmattan</a:t>
            </a:r>
          </a:p>
        </p:txBody>
      </p:sp>
      <p:sp>
        <p:nvSpPr>
          <p:cNvPr name="TextBox 6" id="6"/>
          <p:cNvSpPr txBox="true"/>
          <p:nvPr/>
        </p:nvSpPr>
        <p:spPr>
          <a:xfrm rot="0">
            <a:off x="0" y="8944294"/>
            <a:ext cx="18288000" cy="198120"/>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000000"/>
                </a:solidFill>
                <a:latin typeface="Harmattan"/>
                <a:ea typeface="Harmattan"/>
                <a:cs typeface="Harmattan"/>
                <a:sym typeface="Harmattan"/>
              </a:rPr>
              <a:t>Harmattan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4: Handling Complaints and Consequences</a:t>
            </a:r>
          </a:p>
        </p:txBody>
      </p:sp>
      <p:sp>
        <p:nvSpPr>
          <p:cNvPr name="TextBox 4" id="4"/>
          <p:cNvSpPr txBox="true"/>
          <p:nvPr/>
        </p:nvSpPr>
        <p:spPr>
          <a:xfrm rot="0">
            <a:off x="0" y="4274453"/>
            <a:ext cx="18288000" cy="8563612"/>
          </a:xfrm>
          <a:prstGeom prst="rect">
            <a:avLst/>
          </a:prstGeom>
        </p:spPr>
        <p:txBody>
          <a:bodyPr anchor="t" rtlCol="false" tIns="0" lIns="0" bIns="0" rIns="0">
            <a:spAutoFit/>
          </a:bodyPr>
          <a:lstStyle/>
          <a:p>
            <a:pPr algn="l">
              <a:lnSpc>
                <a:spcPts val="8119"/>
              </a:lnSpc>
            </a:pPr>
            <a:r>
              <a:rPr lang="en-US" sz="5799">
                <a:solidFill>
                  <a:srgbClr val="FCFCE4"/>
                </a:solidFill>
                <a:latin typeface="Harmattan"/>
                <a:ea typeface="Harmattan"/>
                <a:cs typeface="Harmattan"/>
                <a:sym typeface="Harmattan"/>
              </a:rPr>
              <a:t>- **Explanation:** If a passenger feels uncomfortable, the driver should respond calmly and respectfully.</a:t>
            </a:r>
          </a:p>
          <a:p>
            <a:pPr algn="l">
              <a:lnSpc>
                <a:spcPts val="8119"/>
              </a:lnSpc>
            </a:pPr>
            <a:r>
              <a:rPr lang="en-US" sz="5799">
                <a:solidFill>
                  <a:srgbClr val="FCFCE4"/>
                </a:solidFill>
                <a:latin typeface="Harmattan"/>
                <a:ea typeface="Harmattan"/>
                <a:cs typeface="Harmattan"/>
                <a:sym typeface="Harmattan"/>
              </a:rPr>
              <a:t>- **Example:** A passenger expresses discomfort because the driver is driving too fast. Instead of arguing, the driver should apologize and reduce speed, ensuring that the passenger feels safe.</a:t>
            </a:r>
          </a:p>
          <a:p>
            <a:pPr algn="l">
              <a:lnSpc>
                <a:spcPts val="8119"/>
              </a:lnSpc>
            </a:pPr>
          </a:p>
          <a:p>
            <a:pPr algn="l">
              <a:lnSpc>
                <a:spcPts val="9659"/>
              </a:lnSpc>
            </a:pPr>
          </a:p>
          <a:p>
            <a:pPr algn="l">
              <a:lnSpc>
                <a:spcPts val="965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4: Handling Complaints and Consequences</a:t>
            </a:r>
          </a:p>
        </p:txBody>
      </p:sp>
      <p:sp>
        <p:nvSpPr>
          <p:cNvPr name="TextBox 4" id="4"/>
          <p:cNvSpPr txBox="true"/>
          <p:nvPr/>
        </p:nvSpPr>
        <p:spPr>
          <a:xfrm rot="0">
            <a:off x="306933" y="2357753"/>
            <a:ext cx="17981067" cy="7035166"/>
          </a:xfrm>
          <a:prstGeom prst="rect">
            <a:avLst/>
          </a:prstGeom>
        </p:spPr>
        <p:txBody>
          <a:bodyPr anchor="t" rtlCol="false" tIns="0" lIns="0" bIns="0" rIns="0">
            <a:spAutoFit/>
          </a:bodyPr>
          <a:lstStyle/>
          <a:p>
            <a:pPr algn="l">
              <a:lnSpc>
                <a:spcPts val="5879"/>
              </a:lnSpc>
            </a:pPr>
          </a:p>
          <a:p>
            <a:pPr algn="l">
              <a:lnSpc>
                <a:spcPts val="7139"/>
              </a:lnSpc>
            </a:pPr>
            <a:r>
              <a:rPr lang="en-US" sz="5099">
                <a:solidFill>
                  <a:srgbClr val="FCFCE4"/>
                </a:solidFill>
                <a:latin typeface="Harmattan"/>
                <a:ea typeface="Harmattan"/>
                <a:cs typeface="Harmattan"/>
                <a:sym typeface="Harmattan"/>
              </a:rPr>
              <a:t>Consequences of Sexual Harassment:</a:t>
            </a:r>
          </a:p>
          <a:p>
            <a:pPr algn="l">
              <a:lnSpc>
                <a:spcPts val="7139"/>
              </a:lnSpc>
            </a:pPr>
            <a:r>
              <a:rPr lang="en-US" sz="5099">
                <a:solidFill>
                  <a:srgbClr val="FCFCE4"/>
                </a:solidFill>
                <a:latin typeface="Harmattan"/>
                <a:ea typeface="Harmattan"/>
                <a:cs typeface="Harmattan"/>
                <a:sym typeface="Harmattan"/>
              </a:rPr>
              <a:t>-Explanation:Harassment can lead to legal action, loss of job, or other penalties.</a:t>
            </a:r>
          </a:p>
          <a:p>
            <a:pPr algn="l">
              <a:lnSpc>
                <a:spcPts val="7139"/>
              </a:lnSpc>
              <a:spcBef>
                <a:spcPct val="0"/>
              </a:spcBef>
            </a:pPr>
            <a:r>
              <a:rPr lang="en-US" sz="5099">
                <a:solidFill>
                  <a:srgbClr val="FCFCE4"/>
                </a:solidFill>
                <a:latin typeface="Harmattan"/>
                <a:ea typeface="Harmattan"/>
                <a:cs typeface="Harmattan"/>
                <a:sym typeface="Harmattan"/>
              </a:rPr>
              <a:t>Example: A driver makes inappropriate comments, and the passenger reports it. The company takes strict action by firing the driver and potentially blacklisting him from future employment in similar roles. Additionally, legal action could be taken under POSH laws, leading to penalties or cases under POCSO Act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0" y="307396"/>
            <a:ext cx="14085032" cy="4008115"/>
          </a:xfrm>
          <a:prstGeom prst="rect">
            <a:avLst/>
          </a:prstGeom>
        </p:spPr>
        <p:txBody>
          <a:bodyPr anchor="t" rtlCol="false" tIns="0" lIns="0" bIns="0" rIns="0">
            <a:spAutoFit/>
          </a:bodyPr>
          <a:lstStyle/>
          <a:p>
            <a:pPr algn="ctr">
              <a:lnSpc>
                <a:spcPts val="7980"/>
              </a:lnSpc>
            </a:pPr>
            <a:r>
              <a:rPr lang="en-US" sz="5700">
                <a:solidFill>
                  <a:srgbClr val="FCFCE4"/>
                </a:solidFill>
                <a:latin typeface="Maragsa"/>
                <a:ea typeface="Maragsa"/>
                <a:cs typeface="Maragsa"/>
                <a:sym typeface="Maragsa"/>
              </a:rPr>
              <a:t>Module 5 :Creating a Safe Environment for Women Passengers</a:t>
            </a:r>
          </a:p>
          <a:p>
            <a:pPr algn="ctr">
              <a:lnSpc>
                <a:spcPts val="7980"/>
              </a:lnSpc>
            </a:pPr>
          </a:p>
          <a:p>
            <a:pPr algn="ctr">
              <a:lnSpc>
                <a:spcPts val="7980"/>
              </a:lnSpc>
            </a:pPr>
          </a:p>
        </p:txBody>
      </p:sp>
      <p:sp>
        <p:nvSpPr>
          <p:cNvPr name="TextBox 4" id="4"/>
          <p:cNvSpPr txBox="true"/>
          <p:nvPr/>
        </p:nvSpPr>
        <p:spPr>
          <a:xfrm rot="0">
            <a:off x="0" y="4510609"/>
            <a:ext cx="18288000" cy="8469634"/>
          </a:xfrm>
          <a:prstGeom prst="rect">
            <a:avLst/>
          </a:prstGeom>
        </p:spPr>
        <p:txBody>
          <a:bodyPr anchor="t" rtlCol="false" tIns="0" lIns="0" bIns="0" rIns="0">
            <a:spAutoFit/>
          </a:bodyPr>
          <a:lstStyle/>
          <a:p>
            <a:pPr algn="ctr">
              <a:lnSpc>
                <a:spcPts val="11339"/>
              </a:lnSpc>
            </a:pPr>
            <a:r>
              <a:rPr lang="en-US" sz="8099">
                <a:solidFill>
                  <a:srgbClr val="FCFCE4"/>
                </a:solidFill>
                <a:latin typeface="Harmattan"/>
                <a:ea typeface="Harmattan"/>
                <a:cs typeface="Harmattan"/>
                <a:sym typeface="Harmattan"/>
              </a:rPr>
              <a:t> </a:t>
            </a:r>
            <a:r>
              <a:rPr lang="en-US" sz="8099">
                <a:solidFill>
                  <a:srgbClr val="FCFCE4"/>
                </a:solidFill>
                <a:latin typeface="Harmattan"/>
                <a:ea typeface="Harmattan"/>
                <a:cs typeface="Harmattan"/>
                <a:sym typeface="Harmattan"/>
              </a:rPr>
              <a:t>Objective: </a:t>
            </a:r>
          </a:p>
          <a:p>
            <a:pPr algn="ctr">
              <a:lnSpc>
                <a:spcPts val="11339"/>
              </a:lnSpc>
            </a:pPr>
            <a:r>
              <a:rPr lang="en-US" sz="8099">
                <a:solidFill>
                  <a:srgbClr val="FCFCE4"/>
                </a:solidFill>
                <a:latin typeface="Harmattan"/>
                <a:ea typeface="Harmattan"/>
                <a:cs typeface="Harmattan"/>
                <a:sym typeface="Harmattan"/>
              </a:rPr>
              <a:t>Learn specific steps to make women passengers feel safer and more comfortable in your cab.</a:t>
            </a:r>
          </a:p>
          <a:p>
            <a:pPr algn="ctr">
              <a:lnSpc>
                <a:spcPts val="11339"/>
              </a:lnSpc>
            </a:pPr>
          </a:p>
          <a:p>
            <a:pPr algn="ctr">
              <a:lnSpc>
                <a:spcPts val="11339"/>
              </a:lnSpc>
            </a:pPr>
          </a:p>
          <a:p>
            <a:pPr algn="ctr">
              <a:lnSpc>
                <a:spcPts val="1049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1668774"/>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5 :  Creating a Safe Environment for Women Passengers</a:t>
            </a:r>
          </a:p>
        </p:txBody>
      </p:sp>
      <p:sp>
        <p:nvSpPr>
          <p:cNvPr name="TextBox 4" id="4"/>
          <p:cNvSpPr txBox="true"/>
          <p:nvPr/>
        </p:nvSpPr>
        <p:spPr>
          <a:xfrm rot="0">
            <a:off x="306933" y="2329178"/>
            <a:ext cx="17981067" cy="8119111"/>
          </a:xfrm>
          <a:prstGeom prst="rect">
            <a:avLst/>
          </a:prstGeom>
        </p:spPr>
        <p:txBody>
          <a:bodyPr anchor="t" rtlCol="false" tIns="0" lIns="0" bIns="0" rIns="0">
            <a:spAutoFit/>
          </a:bodyPr>
          <a:lstStyle/>
          <a:p>
            <a:pPr algn="l">
              <a:lnSpc>
                <a:spcPts val="7139"/>
              </a:lnSpc>
            </a:pPr>
            <a:r>
              <a:rPr lang="en-US" sz="5099">
                <a:solidFill>
                  <a:srgbClr val="FCFCE4"/>
                </a:solidFill>
                <a:latin typeface="Harmattan"/>
                <a:ea typeface="Harmattan"/>
                <a:cs typeface="Harmattan"/>
                <a:sym typeface="Harmattan"/>
              </a:rPr>
              <a:t>Best Practices:</a:t>
            </a:r>
          </a:p>
          <a:p>
            <a:pPr algn="l">
              <a:lnSpc>
                <a:spcPts val="7139"/>
              </a:lnSpc>
            </a:pPr>
            <a:r>
              <a:rPr lang="en-US" sz="5099">
                <a:solidFill>
                  <a:srgbClr val="FCFCE4"/>
                </a:solidFill>
                <a:latin typeface="Harmattan"/>
                <a:ea typeface="Harmattan"/>
                <a:cs typeface="Harmattan"/>
                <a:sym typeface="Harmattan"/>
              </a:rPr>
              <a:t>Explanation:Maintaining a neutral, respectful, and professional demeanor helps passengers feel safe.</a:t>
            </a:r>
          </a:p>
          <a:p>
            <a:pPr algn="l">
              <a:lnSpc>
                <a:spcPts val="7139"/>
              </a:lnSpc>
            </a:pPr>
          </a:p>
          <a:p>
            <a:pPr algn="l">
              <a:lnSpc>
                <a:spcPts val="7139"/>
              </a:lnSpc>
            </a:pPr>
            <a:r>
              <a:rPr lang="en-US" sz="5099">
                <a:solidFill>
                  <a:srgbClr val="FCFCE4"/>
                </a:solidFill>
                <a:latin typeface="Harmattan"/>
                <a:ea typeface="Harmattan"/>
                <a:cs typeface="Harmattan"/>
                <a:sym typeface="Harmattan"/>
              </a:rPr>
              <a:t>Example: A driver should never ask a woman passenger for personal information or comment on her appearance. Instead, maintain professionalism by keeping conversations strictly about the trip, for example, "Would you like the AC turned on?" or "Is this route okay for you?"</a:t>
            </a:r>
          </a:p>
          <a:p>
            <a:pPr algn="l">
              <a:lnSpc>
                <a:spcPts val="713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1668774"/>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5 :  Creating a Safe Environment for Women Passengers</a:t>
            </a:r>
          </a:p>
        </p:txBody>
      </p:sp>
      <p:sp>
        <p:nvSpPr>
          <p:cNvPr name="TextBox 4" id="4"/>
          <p:cNvSpPr txBox="true"/>
          <p:nvPr/>
        </p:nvSpPr>
        <p:spPr>
          <a:xfrm rot="0">
            <a:off x="306933" y="3083515"/>
            <a:ext cx="17674134" cy="6755124"/>
          </a:xfrm>
          <a:prstGeom prst="rect">
            <a:avLst/>
          </a:prstGeom>
        </p:spPr>
        <p:txBody>
          <a:bodyPr anchor="t" rtlCol="false" tIns="0" lIns="0" bIns="0" rIns="0">
            <a:spAutoFit/>
          </a:bodyPr>
          <a:lstStyle/>
          <a:p>
            <a:pPr algn="ctr">
              <a:lnSpc>
                <a:spcPts val="6720"/>
              </a:lnSpc>
              <a:spcBef>
                <a:spcPct val="0"/>
              </a:spcBef>
            </a:pPr>
            <a:r>
              <a:rPr lang="en-US" sz="4800">
                <a:solidFill>
                  <a:srgbClr val="FCFCE4"/>
                </a:solidFill>
                <a:latin typeface="Maragsa"/>
                <a:ea typeface="Maragsa"/>
                <a:cs typeface="Maragsa"/>
                <a:sym typeface="Maragsa"/>
              </a:rPr>
              <a:t> </a:t>
            </a:r>
          </a:p>
          <a:p>
            <a:pPr algn="l">
              <a:lnSpc>
                <a:spcPts val="6720"/>
              </a:lnSpc>
              <a:spcBef>
                <a:spcPct val="0"/>
              </a:spcBef>
            </a:pPr>
            <a:r>
              <a:rPr lang="en-US" sz="4800">
                <a:solidFill>
                  <a:srgbClr val="FCFCE4"/>
                </a:solidFill>
                <a:latin typeface="Maragsa"/>
                <a:ea typeface="Maragsa"/>
                <a:cs typeface="Maragsa"/>
                <a:sym typeface="Maragsa"/>
              </a:rPr>
              <a:t>Emergency Contacts:</a:t>
            </a:r>
          </a:p>
          <a:p>
            <a:pPr algn="l">
              <a:lnSpc>
                <a:spcPts val="6720"/>
              </a:lnSpc>
              <a:spcBef>
                <a:spcPct val="0"/>
              </a:spcBef>
            </a:pPr>
            <a:r>
              <a:rPr lang="en-US" sz="4800">
                <a:solidFill>
                  <a:srgbClr val="FCFCE4"/>
                </a:solidFill>
                <a:latin typeface="Maragsa"/>
                <a:ea typeface="Maragsa"/>
                <a:cs typeface="Maragsa"/>
                <a:sym typeface="Maragsa"/>
              </a:rPr>
              <a:t>Explanation: In emergencies, drivers should know how to act swiftly and call appropriate helplines.</a:t>
            </a:r>
          </a:p>
          <a:p>
            <a:pPr algn="l">
              <a:lnSpc>
                <a:spcPts val="6720"/>
              </a:lnSpc>
              <a:spcBef>
                <a:spcPct val="0"/>
              </a:spcBef>
            </a:pPr>
            <a:r>
              <a:rPr lang="en-US" sz="4800">
                <a:solidFill>
                  <a:srgbClr val="FCFCE4"/>
                </a:solidFill>
                <a:latin typeface="Maragsa"/>
                <a:ea typeface="Maragsa"/>
                <a:cs typeface="Maragsa"/>
                <a:sym typeface="Maragsa"/>
              </a:rPr>
              <a:t>- Example: If a passenger is uncomfortable with an unknown car following the cab, the driver should remain calm, take the safest route, and inform the authorities if needed. The driver should also offer reassurance by stating, "Don't worry, I’ll make sure we reach safely."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0" y="307396"/>
            <a:ext cx="14085032" cy="2998465"/>
          </a:xfrm>
          <a:prstGeom prst="rect">
            <a:avLst/>
          </a:prstGeom>
        </p:spPr>
        <p:txBody>
          <a:bodyPr anchor="t" rtlCol="false" tIns="0" lIns="0" bIns="0" rIns="0">
            <a:spAutoFit/>
          </a:bodyPr>
          <a:lstStyle/>
          <a:p>
            <a:pPr algn="ctr">
              <a:lnSpc>
                <a:spcPts val="7980"/>
              </a:lnSpc>
            </a:pPr>
            <a:r>
              <a:rPr lang="en-US" sz="5700">
                <a:solidFill>
                  <a:srgbClr val="FCFCE4"/>
                </a:solidFill>
                <a:latin typeface="Maragsa"/>
                <a:ea typeface="Maragsa"/>
                <a:cs typeface="Maragsa"/>
                <a:sym typeface="Maragsa"/>
              </a:rPr>
              <a:t>Module 6  : What to Do If You Are Harassed</a:t>
            </a:r>
          </a:p>
          <a:p>
            <a:pPr algn="ctr">
              <a:lnSpc>
                <a:spcPts val="7980"/>
              </a:lnSpc>
            </a:pPr>
          </a:p>
          <a:p>
            <a:pPr algn="ctr">
              <a:lnSpc>
                <a:spcPts val="7980"/>
              </a:lnSpc>
            </a:pPr>
          </a:p>
        </p:txBody>
      </p:sp>
      <p:sp>
        <p:nvSpPr>
          <p:cNvPr name="TextBox 4" id="4"/>
          <p:cNvSpPr txBox="true"/>
          <p:nvPr/>
        </p:nvSpPr>
        <p:spPr>
          <a:xfrm rot="0">
            <a:off x="0" y="4510609"/>
            <a:ext cx="18288000" cy="11346184"/>
          </a:xfrm>
          <a:prstGeom prst="rect">
            <a:avLst/>
          </a:prstGeom>
        </p:spPr>
        <p:txBody>
          <a:bodyPr anchor="t" rtlCol="false" tIns="0" lIns="0" bIns="0" rIns="0">
            <a:spAutoFit/>
          </a:bodyPr>
          <a:lstStyle/>
          <a:p>
            <a:pPr algn="ctr">
              <a:lnSpc>
                <a:spcPts val="11339"/>
              </a:lnSpc>
            </a:pPr>
            <a:r>
              <a:rPr lang="en-US" sz="8099">
                <a:solidFill>
                  <a:srgbClr val="FCFCE4"/>
                </a:solidFill>
                <a:latin typeface="Harmattan"/>
                <a:ea typeface="Harmattan"/>
                <a:cs typeface="Harmattan"/>
                <a:sym typeface="Harmattan"/>
              </a:rPr>
              <a:t> </a:t>
            </a:r>
            <a:r>
              <a:rPr lang="en-US" sz="8099">
                <a:solidFill>
                  <a:srgbClr val="FCFCE4"/>
                </a:solidFill>
                <a:latin typeface="Harmattan"/>
                <a:ea typeface="Harmattan"/>
                <a:cs typeface="Harmattan"/>
                <a:sym typeface="Harmattan"/>
              </a:rPr>
              <a:t>Objective: </a:t>
            </a:r>
          </a:p>
          <a:p>
            <a:pPr algn="ctr">
              <a:lnSpc>
                <a:spcPts val="11339"/>
              </a:lnSpc>
            </a:pPr>
            <a:r>
              <a:rPr lang="en-US" sz="8099">
                <a:solidFill>
                  <a:srgbClr val="FCFCE4"/>
                </a:solidFill>
                <a:latin typeface="Harmattan"/>
                <a:ea typeface="Harmattan"/>
                <a:cs typeface="Harmattan"/>
                <a:sym typeface="Harmattan"/>
              </a:rPr>
              <a:t>Empower cab drivers to understand that harassment can happen to them and know the steps to take.</a:t>
            </a:r>
          </a:p>
          <a:p>
            <a:pPr algn="ctr">
              <a:lnSpc>
                <a:spcPts val="11339"/>
              </a:lnSpc>
            </a:pPr>
          </a:p>
          <a:p>
            <a:pPr algn="ctr">
              <a:lnSpc>
                <a:spcPts val="11339"/>
              </a:lnSpc>
            </a:pPr>
          </a:p>
          <a:p>
            <a:pPr algn="ctr">
              <a:lnSpc>
                <a:spcPts val="11339"/>
              </a:lnSpc>
            </a:pPr>
          </a:p>
          <a:p>
            <a:pPr algn="ctr">
              <a:lnSpc>
                <a:spcPts val="1049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6  :What to Do If You Are Harassed</a:t>
            </a:r>
          </a:p>
        </p:txBody>
      </p:sp>
      <p:sp>
        <p:nvSpPr>
          <p:cNvPr name="TextBox 4" id="4"/>
          <p:cNvSpPr txBox="true"/>
          <p:nvPr/>
        </p:nvSpPr>
        <p:spPr>
          <a:xfrm rot="0">
            <a:off x="622978" y="3398526"/>
            <a:ext cx="17209320" cy="7309479"/>
          </a:xfrm>
          <a:prstGeom prst="rect">
            <a:avLst/>
          </a:prstGeom>
        </p:spPr>
        <p:txBody>
          <a:bodyPr anchor="t" rtlCol="false" tIns="0" lIns="0" bIns="0" rIns="0">
            <a:spAutoFit/>
          </a:bodyPr>
          <a:lstStyle/>
          <a:p>
            <a:pPr algn="just">
              <a:lnSpc>
                <a:spcPts val="6580"/>
              </a:lnSpc>
            </a:pPr>
            <a:r>
              <a:rPr lang="en-US" sz="4700">
                <a:solidFill>
                  <a:srgbClr val="FCFCE4"/>
                </a:solidFill>
                <a:latin typeface="Harmattan"/>
                <a:ea typeface="Harmattan"/>
                <a:cs typeface="Harmattan"/>
                <a:sym typeface="Harmattan"/>
              </a:rPr>
              <a:t>*What Drivers Can Do if Harassed:</a:t>
            </a:r>
          </a:p>
          <a:p>
            <a:pPr algn="just">
              <a:lnSpc>
                <a:spcPts val="6580"/>
              </a:lnSpc>
            </a:pPr>
            <a:r>
              <a:rPr lang="en-US" sz="4700">
                <a:solidFill>
                  <a:srgbClr val="FCFCE4"/>
                </a:solidFill>
                <a:latin typeface="Harmattan"/>
                <a:ea typeface="Harmattan"/>
                <a:cs typeface="Harmattan"/>
                <a:sym typeface="Harmattan"/>
              </a:rPr>
              <a:t>- **Explanation:** Drivers also have the right to a safe and respectful working environment. If a passenger behaves inappropriately, drivers can take action.</a:t>
            </a:r>
          </a:p>
          <a:p>
            <a:pPr algn="just">
              <a:lnSpc>
                <a:spcPts val="6580"/>
              </a:lnSpc>
            </a:pPr>
          </a:p>
          <a:p>
            <a:pPr algn="just">
              <a:lnSpc>
                <a:spcPts val="6580"/>
              </a:lnSpc>
            </a:pPr>
            <a:r>
              <a:rPr lang="en-US" sz="4700">
                <a:solidFill>
                  <a:srgbClr val="FCFCE4"/>
                </a:solidFill>
                <a:latin typeface="Harmattan"/>
                <a:ea typeface="Harmattan"/>
                <a:cs typeface="Harmattan"/>
                <a:sym typeface="Harmattan"/>
              </a:rPr>
              <a:t>- **Example:** If a driver experiences a passenger making inappropriate comments or gestures, the driver should remain calm, politely inform the passenger that the behavior is unacceptable, and report the incident to the company.</a:t>
            </a:r>
          </a:p>
          <a:p>
            <a:pPr algn="just">
              <a:lnSpc>
                <a:spcPts val="560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338077" y="0"/>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306933" y="570550"/>
            <a:ext cx="13281379" cy="821049"/>
          </a:xfrm>
          <a:prstGeom prst="rect">
            <a:avLst/>
          </a:prstGeom>
        </p:spPr>
        <p:txBody>
          <a:bodyPr anchor="t" rtlCol="false" tIns="0" lIns="0" bIns="0" rIns="0">
            <a:spAutoFit/>
          </a:bodyPr>
          <a:lstStyle/>
          <a:p>
            <a:pPr algn="ctr">
              <a:lnSpc>
                <a:spcPts val="6720"/>
              </a:lnSpc>
            </a:pPr>
            <a:r>
              <a:rPr lang="en-US" sz="4800">
                <a:solidFill>
                  <a:srgbClr val="FCFCE4"/>
                </a:solidFill>
                <a:latin typeface="Maragsa"/>
                <a:ea typeface="Maragsa"/>
                <a:cs typeface="Maragsa"/>
                <a:sym typeface="Maragsa"/>
              </a:rPr>
              <a:t>Module  6  :What to Do If You Are Harassed</a:t>
            </a:r>
          </a:p>
        </p:txBody>
      </p:sp>
      <p:sp>
        <p:nvSpPr>
          <p:cNvPr name="TextBox 4" id="4"/>
          <p:cNvSpPr txBox="true"/>
          <p:nvPr/>
        </p:nvSpPr>
        <p:spPr>
          <a:xfrm rot="0">
            <a:off x="306933" y="3389001"/>
            <a:ext cx="17525365" cy="6939909"/>
          </a:xfrm>
          <a:prstGeom prst="rect">
            <a:avLst/>
          </a:prstGeom>
        </p:spPr>
        <p:txBody>
          <a:bodyPr anchor="t" rtlCol="false" tIns="0" lIns="0" bIns="0" rIns="0">
            <a:spAutoFit/>
          </a:bodyPr>
          <a:lstStyle/>
          <a:p>
            <a:pPr algn="just">
              <a:lnSpc>
                <a:spcPts val="7000"/>
              </a:lnSpc>
            </a:pPr>
            <a:r>
              <a:rPr lang="en-US" sz="5000">
                <a:solidFill>
                  <a:srgbClr val="FCFCE4"/>
                </a:solidFill>
                <a:latin typeface="Harmattan"/>
                <a:ea typeface="Harmattan"/>
                <a:cs typeface="Harmattan"/>
                <a:sym typeface="Harmattan"/>
              </a:rPr>
              <a:t>*Legal Protection:</a:t>
            </a:r>
          </a:p>
          <a:p>
            <a:pPr algn="just">
              <a:lnSpc>
                <a:spcPts val="7000"/>
              </a:lnSpc>
            </a:pPr>
            <a:r>
              <a:rPr lang="en-US" sz="5000">
                <a:solidFill>
                  <a:srgbClr val="FCFCE4"/>
                </a:solidFill>
                <a:latin typeface="Harmattan"/>
                <a:ea typeface="Harmattan"/>
                <a:cs typeface="Harmattan"/>
                <a:sym typeface="Harmattan"/>
              </a:rPr>
              <a:t>Explanation: Drivers are protected under laws against harassment and can report incidents to authorities or their company.</a:t>
            </a:r>
          </a:p>
          <a:p>
            <a:pPr algn="just">
              <a:lnSpc>
                <a:spcPts val="7000"/>
              </a:lnSpc>
            </a:pPr>
            <a:r>
              <a:rPr lang="en-US" sz="5000">
                <a:solidFill>
                  <a:srgbClr val="FCFCE4"/>
                </a:solidFill>
                <a:latin typeface="Harmattan"/>
                <a:ea typeface="Harmattan"/>
                <a:cs typeface="Harmattan"/>
                <a:sym typeface="Harmattan"/>
              </a:rPr>
              <a:t>-</a:t>
            </a:r>
          </a:p>
          <a:p>
            <a:pPr algn="just">
              <a:lnSpc>
                <a:spcPts val="7000"/>
              </a:lnSpc>
            </a:pPr>
            <a:r>
              <a:rPr lang="en-US" sz="5000">
                <a:solidFill>
                  <a:srgbClr val="FCFCE4"/>
                </a:solidFill>
                <a:latin typeface="Harmattan"/>
                <a:ea typeface="Harmattan"/>
                <a:cs typeface="Harmattan"/>
                <a:sym typeface="Harmattan"/>
              </a:rPr>
              <a:t>Example:If a female passenger inappropriately touches or makes suggestive remarks to a male driver, the driver can report this to the police or company for appropriate action.</a:t>
            </a:r>
          </a:p>
          <a:p>
            <a:pPr algn="just">
              <a:lnSpc>
                <a:spcPts val="602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TextBox 2" id="2"/>
          <p:cNvSpPr txBox="true"/>
          <p:nvPr/>
        </p:nvSpPr>
        <p:spPr>
          <a:xfrm rot="0">
            <a:off x="230010" y="446725"/>
            <a:ext cx="18057990" cy="9374499"/>
          </a:xfrm>
          <a:prstGeom prst="rect">
            <a:avLst/>
          </a:prstGeom>
        </p:spPr>
        <p:txBody>
          <a:bodyPr anchor="t" rtlCol="false" tIns="0" lIns="0" bIns="0" rIns="0">
            <a:spAutoFit/>
          </a:bodyPr>
          <a:lstStyle/>
          <a:p>
            <a:pPr algn="l">
              <a:lnSpc>
                <a:spcPts val="6720"/>
              </a:lnSpc>
              <a:spcBef>
                <a:spcPct val="0"/>
              </a:spcBef>
            </a:pPr>
            <a:r>
              <a:rPr lang="en-US" sz="4800">
                <a:solidFill>
                  <a:srgbClr val="FDFDFD"/>
                </a:solidFill>
                <a:latin typeface="Maragsa"/>
                <a:ea typeface="Maragsa"/>
                <a:cs typeface="Maragsa"/>
                <a:sym typeface="Maragsa"/>
              </a:rPr>
              <a:t> </a:t>
            </a:r>
          </a:p>
          <a:p>
            <a:pPr algn="l">
              <a:lnSpc>
                <a:spcPts val="6720"/>
              </a:lnSpc>
              <a:spcBef>
                <a:spcPct val="0"/>
              </a:spcBef>
            </a:pPr>
            <a:r>
              <a:rPr lang="en-US" sz="4800">
                <a:solidFill>
                  <a:srgbClr val="FDFDFD"/>
                </a:solidFill>
                <a:latin typeface="Maragsa"/>
                <a:ea typeface="Maragsa"/>
                <a:cs typeface="Maragsa"/>
                <a:sym typeface="Maragsa"/>
              </a:rPr>
              <a:t> Conclusion: Summary and Commitment to Safety</a:t>
            </a:r>
          </a:p>
          <a:p>
            <a:pPr algn="l">
              <a:lnSpc>
                <a:spcPts val="6720"/>
              </a:lnSpc>
              <a:spcBef>
                <a:spcPct val="0"/>
              </a:spcBef>
            </a:pPr>
            <a:r>
              <a:rPr lang="en-US" sz="4800">
                <a:solidFill>
                  <a:srgbClr val="FDFDFD"/>
                </a:solidFill>
                <a:latin typeface="Maragsa"/>
                <a:ea typeface="Maragsa"/>
                <a:cs typeface="Maragsa"/>
                <a:sym typeface="Maragsa"/>
              </a:rPr>
              <a:t>Key Takeaways:</a:t>
            </a:r>
          </a:p>
          <a:p>
            <a:pPr algn="l">
              <a:lnSpc>
                <a:spcPts val="6720"/>
              </a:lnSpc>
              <a:spcBef>
                <a:spcPct val="0"/>
              </a:spcBef>
            </a:pPr>
          </a:p>
          <a:p>
            <a:pPr algn="l">
              <a:lnSpc>
                <a:spcPts val="7280"/>
              </a:lnSpc>
              <a:spcBef>
                <a:spcPct val="0"/>
              </a:spcBef>
            </a:pPr>
          </a:p>
          <a:p>
            <a:pPr algn="l">
              <a:lnSpc>
                <a:spcPts val="6720"/>
              </a:lnSpc>
              <a:spcBef>
                <a:spcPct val="0"/>
              </a:spcBef>
            </a:pPr>
            <a:r>
              <a:rPr lang="en-US" sz="4800">
                <a:solidFill>
                  <a:srgbClr val="FDFDFD"/>
                </a:solidFill>
                <a:latin typeface="Harmattan"/>
                <a:ea typeface="Harmattan"/>
                <a:cs typeface="Harmattan"/>
                <a:sym typeface="Harmattan"/>
              </a:rPr>
              <a:t>Explanation: Understanding and identifying different forms of harassment helps drivers avoid behaviors that make passengers uncomfortable.</a:t>
            </a:r>
          </a:p>
          <a:p>
            <a:pPr algn="l">
              <a:lnSpc>
                <a:spcPts val="6720"/>
              </a:lnSpc>
              <a:spcBef>
                <a:spcPct val="0"/>
              </a:spcBef>
            </a:pPr>
            <a:r>
              <a:rPr lang="en-US" sz="4800">
                <a:solidFill>
                  <a:srgbClr val="FDFDFD"/>
                </a:solidFill>
                <a:latin typeface="Harmattan"/>
                <a:ea typeface="Harmattan"/>
                <a:cs typeface="Harmattan"/>
                <a:sym typeface="Harmattan"/>
              </a:rPr>
              <a:t>Example: A driver who respects a passenger’s personal space and avoids unnecessary conversation ensures that the passenger feels safe throughout the journey. If the passenger needs to make a stop or change the route, the driver should respond professionally and avoid making it personal or uncomfortable.</a:t>
            </a:r>
          </a:p>
        </p:txBody>
      </p:sp>
      <p:sp>
        <p:nvSpPr>
          <p:cNvPr name="Freeform 3" id="3"/>
          <p:cNvSpPr/>
          <p:nvPr/>
        </p:nvSpPr>
        <p:spPr>
          <a:xfrm flipH="false" flipV="false" rot="0">
            <a:off x="15335755" y="0"/>
            <a:ext cx="2952245" cy="2952245"/>
          </a:xfrm>
          <a:custGeom>
            <a:avLst/>
            <a:gdLst/>
            <a:ahLst/>
            <a:cxnLst/>
            <a:rect r="r" b="b" t="t" l="l"/>
            <a:pathLst>
              <a:path h="2952245" w="2952245">
                <a:moveTo>
                  <a:pt x="0" y="0"/>
                </a:moveTo>
                <a:lnTo>
                  <a:pt x="2952245" y="0"/>
                </a:lnTo>
                <a:lnTo>
                  <a:pt x="2952245" y="2952245"/>
                </a:lnTo>
                <a:lnTo>
                  <a:pt x="0" y="2952245"/>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TextBox 2" id="2"/>
          <p:cNvSpPr txBox="true"/>
          <p:nvPr/>
        </p:nvSpPr>
        <p:spPr>
          <a:xfrm rot="0">
            <a:off x="230010" y="2566038"/>
            <a:ext cx="18057990" cy="7354565"/>
          </a:xfrm>
          <a:prstGeom prst="rect">
            <a:avLst/>
          </a:prstGeom>
        </p:spPr>
        <p:txBody>
          <a:bodyPr anchor="t" rtlCol="false" tIns="0" lIns="0" bIns="0" rIns="0">
            <a:spAutoFit/>
          </a:bodyPr>
          <a:lstStyle/>
          <a:p>
            <a:pPr algn="l">
              <a:lnSpc>
                <a:spcPts val="7280"/>
              </a:lnSpc>
            </a:pPr>
            <a:r>
              <a:rPr lang="en-US" sz="5200">
                <a:solidFill>
                  <a:srgbClr val="FDFDFD"/>
                </a:solidFill>
                <a:latin typeface="Harmattan"/>
                <a:ea typeface="Harmattan"/>
                <a:cs typeface="Harmattan"/>
                <a:sym typeface="Harmattan"/>
              </a:rPr>
              <a:t>Commitment:</a:t>
            </a:r>
          </a:p>
          <a:p>
            <a:pPr algn="l">
              <a:lnSpc>
                <a:spcPts val="7280"/>
              </a:lnSpc>
            </a:pPr>
            <a:r>
              <a:rPr lang="en-US" sz="5200">
                <a:solidFill>
                  <a:srgbClr val="FDFDFD"/>
                </a:solidFill>
                <a:latin typeface="Harmattan"/>
                <a:ea typeface="Harmattan"/>
                <a:cs typeface="Harmattan"/>
                <a:sym typeface="Harmattan"/>
              </a:rPr>
              <a:t>Cab drivers commit to ensuring a harassment-free environment for all passengers.</a:t>
            </a:r>
          </a:p>
          <a:p>
            <a:pPr algn="l">
              <a:lnSpc>
                <a:spcPts val="7280"/>
              </a:lnSpc>
            </a:pPr>
          </a:p>
          <a:p>
            <a:pPr algn="l">
              <a:lnSpc>
                <a:spcPts val="7280"/>
              </a:lnSpc>
            </a:pPr>
          </a:p>
          <a:p>
            <a:pPr algn="l">
              <a:lnSpc>
                <a:spcPts val="7280"/>
              </a:lnSpc>
            </a:pPr>
            <a:r>
              <a:rPr lang="en-US" sz="5200">
                <a:solidFill>
                  <a:srgbClr val="FDFDFD"/>
                </a:solidFill>
                <a:latin typeface="Harmattan"/>
                <a:ea typeface="Harmattan"/>
                <a:cs typeface="Harmattan"/>
                <a:sym typeface="Harmattan"/>
              </a:rPr>
              <a:t>- Example: "I pledge to treat all passengers with respect, ensure their safety, and maintain professionalism at all times."</a:t>
            </a:r>
          </a:p>
          <a:p>
            <a:pPr algn="l">
              <a:lnSpc>
                <a:spcPts val="7280"/>
              </a:lnSpc>
              <a:spcBef>
                <a:spcPct val="0"/>
              </a:spcBef>
            </a:pPr>
          </a:p>
        </p:txBody>
      </p:sp>
      <p:sp>
        <p:nvSpPr>
          <p:cNvPr name="Freeform 3" id="3"/>
          <p:cNvSpPr/>
          <p:nvPr/>
        </p:nvSpPr>
        <p:spPr>
          <a:xfrm flipH="false" flipV="false" rot="0">
            <a:off x="15335755" y="0"/>
            <a:ext cx="2952245" cy="2952245"/>
          </a:xfrm>
          <a:custGeom>
            <a:avLst/>
            <a:gdLst/>
            <a:ahLst/>
            <a:cxnLst/>
            <a:rect r="r" b="b" t="t" l="l"/>
            <a:pathLst>
              <a:path h="2952245" w="2952245">
                <a:moveTo>
                  <a:pt x="0" y="0"/>
                </a:moveTo>
                <a:lnTo>
                  <a:pt x="2952245" y="0"/>
                </a:lnTo>
                <a:lnTo>
                  <a:pt x="2952245" y="2952245"/>
                </a:lnTo>
                <a:lnTo>
                  <a:pt x="0" y="2952245"/>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621015" y="-1997"/>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0" y="1649864"/>
            <a:ext cx="18288000" cy="9340209"/>
          </a:xfrm>
          <a:prstGeom prst="rect">
            <a:avLst/>
          </a:prstGeom>
        </p:spPr>
        <p:txBody>
          <a:bodyPr anchor="t" rtlCol="false" tIns="0" lIns="0" bIns="0" rIns="0">
            <a:spAutoFit/>
          </a:bodyPr>
          <a:lstStyle/>
          <a:p>
            <a:pPr algn="l">
              <a:lnSpc>
                <a:spcPts val="6860"/>
              </a:lnSpc>
              <a:spcBef>
                <a:spcPct val="0"/>
              </a:spcBef>
            </a:pPr>
            <a:r>
              <a:rPr lang="en-US" sz="4900">
                <a:solidFill>
                  <a:srgbClr val="FDFDFD"/>
                </a:solidFill>
                <a:latin typeface="Harmattan"/>
                <a:ea typeface="Harmattan"/>
                <a:cs typeface="Harmattan"/>
                <a:sym typeface="Harmattan"/>
              </a:rPr>
              <a:t>Assessment with Examples:</a:t>
            </a:r>
          </a:p>
          <a:p>
            <a:pPr algn="l">
              <a:lnSpc>
                <a:spcPts val="6860"/>
              </a:lnSpc>
              <a:spcBef>
                <a:spcPct val="0"/>
              </a:spcBef>
            </a:pPr>
            <a:r>
              <a:rPr lang="en-US" sz="4900">
                <a:solidFill>
                  <a:srgbClr val="FDFDFD"/>
                </a:solidFill>
                <a:latin typeface="Harmattan"/>
                <a:ea typeface="Harmattan"/>
                <a:cs typeface="Harmattan"/>
                <a:sym typeface="Harmattan"/>
              </a:rPr>
              <a:t> </a:t>
            </a:r>
          </a:p>
          <a:p>
            <a:pPr algn="l">
              <a:lnSpc>
                <a:spcPts val="6860"/>
              </a:lnSpc>
              <a:spcBef>
                <a:spcPct val="0"/>
              </a:spcBef>
            </a:pPr>
            <a:r>
              <a:rPr lang="en-US" sz="4900">
                <a:solidFill>
                  <a:srgbClr val="FDFDFD"/>
                </a:solidFill>
                <a:latin typeface="Harmattan"/>
                <a:ea typeface="Harmattan"/>
                <a:cs typeface="Harmattan"/>
                <a:sym typeface="Harmattan"/>
              </a:rPr>
              <a:t>**1. What actions constitute sexual harassment?** </a:t>
            </a:r>
          </a:p>
          <a:p>
            <a:pPr algn="l">
              <a:lnSpc>
                <a:spcPts val="6860"/>
              </a:lnSpc>
              <a:spcBef>
                <a:spcPct val="0"/>
              </a:spcBef>
            </a:pPr>
            <a:r>
              <a:rPr lang="en-US" sz="4900">
                <a:solidFill>
                  <a:srgbClr val="FDFDFD"/>
                </a:solidFill>
                <a:latin typeface="Harmattan"/>
                <a:ea typeface="Harmattan"/>
                <a:cs typeface="Harmattan"/>
                <a:sym typeface="Harmattan"/>
              </a:rPr>
              <a:t>Example: Making comments like "You look hot in that dress" or touching the passenger unnecessarily can be considered harassment.</a:t>
            </a:r>
          </a:p>
          <a:p>
            <a:pPr algn="l">
              <a:lnSpc>
                <a:spcPts val="6860"/>
              </a:lnSpc>
              <a:spcBef>
                <a:spcPct val="0"/>
              </a:spcBef>
            </a:pPr>
            <a:r>
              <a:rPr lang="en-US" sz="4900">
                <a:solidFill>
                  <a:srgbClr val="FDFDFD"/>
                </a:solidFill>
                <a:latin typeface="Harmattan"/>
                <a:ea typeface="Harmattan"/>
                <a:cs typeface="Harmattan"/>
                <a:sym typeface="Harmattan"/>
              </a:rPr>
              <a:t> </a:t>
            </a:r>
          </a:p>
          <a:p>
            <a:pPr algn="l">
              <a:lnSpc>
                <a:spcPts val="6860"/>
              </a:lnSpc>
              <a:spcBef>
                <a:spcPct val="0"/>
              </a:spcBef>
            </a:pPr>
            <a:r>
              <a:rPr lang="en-US" sz="4900">
                <a:solidFill>
                  <a:srgbClr val="FDFDFD"/>
                </a:solidFill>
                <a:latin typeface="Harmattan"/>
                <a:ea typeface="Harmattan"/>
                <a:cs typeface="Harmattan"/>
                <a:sym typeface="Harmattan"/>
              </a:rPr>
              <a:t>**2. What should you do if a passenger feels uncomfortable?** </a:t>
            </a:r>
          </a:p>
          <a:p>
            <a:pPr algn="l">
              <a:lnSpc>
                <a:spcPts val="6860"/>
              </a:lnSpc>
              <a:spcBef>
                <a:spcPct val="0"/>
              </a:spcBef>
            </a:pPr>
            <a:r>
              <a:rPr lang="en-US" sz="4900">
                <a:solidFill>
                  <a:srgbClr val="FDFDFD"/>
                </a:solidFill>
                <a:latin typeface="Harmattan"/>
                <a:ea typeface="Harmattan"/>
                <a:cs typeface="Harmattan"/>
                <a:sym typeface="Harmattan"/>
              </a:rPr>
              <a:t>Example: If a passenger requests you to stop the car because they feel unsafe, you should immediately pull over in a safe location and ask if they are okay.</a:t>
            </a:r>
          </a:p>
          <a:p>
            <a:pPr algn="l">
              <a:lnSpc>
                <a:spcPts val="6160"/>
              </a:lnSpc>
              <a:spcBef>
                <a:spcPct val="0"/>
              </a:spcBef>
            </a:pPr>
            <a:r>
              <a:rPr lang="en-US" sz="4400">
                <a:solidFill>
                  <a:srgbClr val="FDFDFD"/>
                </a:solidFill>
                <a:latin typeface="Harmattan"/>
                <a:ea typeface="Harmattan"/>
                <a:cs typeface="Harmattan"/>
                <a:sym typeface="Harmattan"/>
              </a:rPr>
              <a:t> </a:t>
            </a:r>
          </a:p>
          <a:p>
            <a:pPr algn="l">
              <a:lnSpc>
                <a:spcPts val="6160"/>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14621015" y="-1997"/>
            <a:ext cx="3494221" cy="3494221"/>
          </a:xfrm>
          <a:custGeom>
            <a:avLst/>
            <a:gdLst/>
            <a:ahLst/>
            <a:cxnLst/>
            <a:rect r="r" b="b" t="t" l="l"/>
            <a:pathLst>
              <a:path h="3494221" w="3494221">
                <a:moveTo>
                  <a:pt x="0" y="0"/>
                </a:moveTo>
                <a:lnTo>
                  <a:pt x="3494221" y="0"/>
                </a:lnTo>
                <a:lnTo>
                  <a:pt x="3494221" y="3494221"/>
                </a:lnTo>
                <a:lnTo>
                  <a:pt x="0" y="3494221"/>
                </a:lnTo>
                <a:lnTo>
                  <a:pt x="0" y="0"/>
                </a:lnTo>
                <a:close/>
              </a:path>
            </a:pathLst>
          </a:custGeom>
          <a:blipFill>
            <a:blip r:embed="rId2"/>
            <a:stretch>
              <a:fillRect l="0" t="0" r="0" b="0"/>
            </a:stretch>
          </a:blipFill>
        </p:spPr>
      </p:sp>
      <p:sp>
        <p:nvSpPr>
          <p:cNvPr name="TextBox 3" id="3"/>
          <p:cNvSpPr txBox="true"/>
          <p:nvPr/>
        </p:nvSpPr>
        <p:spPr>
          <a:xfrm rot="0">
            <a:off x="257175" y="2923726"/>
            <a:ext cx="18030825" cy="7108184"/>
          </a:xfrm>
          <a:prstGeom prst="rect">
            <a:avLst/>
          </a:prstGeom>
        </p:spPr>
        <p:txBody>
          <a:bodyPr anchor="t" rtlCol="false" tIns="0" lIns="0" bIns="0" rIns="0">
            <a:spAutoFit/>
          </a:bodyPr>
          <a:lstStyle/>
          <a:p>
            <a:pPr algn="l">
              <a:lnSpc>
                <a:spcPts val="6160"/>
              </a:lnSpc>
              <a:spcBef>
                <a:spcPct val="0"/>
              </a:spcBef>
            </a:pPr>
            <a:r>
              <a:rPr lang="en-US" sz="4400">
                <a:solidFill>
                  <a:srgbClr val="FDFDFD"/>
                </a:solidFill>
                <a:latin typeface="Harmattan"/>
                <a:ea typeface="Harmattan"/>
                <a:cs typeface="Harmattan"/>
                <a:sym typeface="Harmattan"/>
              </a:rPr>
              <a:t>Assessment with Examples:</a:t>
            </a:r>
          </a:p>
          <a:p>
            <a:pPr algn="l">
              <a:lnSpc>
                <a:spcPts val="7000"/>
              </a:lnSpc>
              <a:spcBef>
                <a:spcPct val="0"/>
              </a:spcBef>
            </a:pPr>
          </a:p>
          <a:p>
            <a:pPr algn="l">
              <a:lnSpc>
                <a:spcPts val="6160"/>
              </a:lnSpc>
              <a:spcBef>
                <a:spcPct val="0"/>
              </a:spcBef>
            </a:pPr>
            <a:r>
              <a:rPr lang="en-US" sz="4400">
                <a:solidFill>
                  <a:srgbClr val="FDFDFD"/>
                </a:solidFill>
                <a:latin typeface="Harmattan"/>
                <a:ea typeface="Harmattan"/>
                <a:cs typeface="Harmattan"/>
                <a:sym typeface="Harmattan"/>
              </a:rPr>
              <a:t>**3. What are the consequences of sexual harassment?** </a:t>
            </a:r>
          </a:p>
          <a:p>
            <a:pPr algn="l">
              <a:lnSpc>
                <a:spcPts val="6160"/>
              </a:lnSpc>
              <a:spcBef>
                <a:spcPct val="0"/>
              </a:spcBef>
            </a:pPr>
            <a:r>
              <a:rPr lang="en-US" sz="4400">
                <a:solidFill>
                  <a:srgbClr val="FDFDFD"/>
                </a:solidFill>
                <a:latin typeface="Harmattan"/>
                <a:ea typeface="Harmattan"/>
                <a:cs typeface="Harmattan"/>
                <a:sym typeface="Harmattan"/>
              </a:rPr>
              <a:t>Example: If a driver engages in inappropriate behavior, they can lose their job, face fines, and even jail time under the law.</a:t>
            </a:r>
          </a:p>
          <a:p>
            <a:pPr algn="l">
              <a:lnSpc>
                <a:spcPts val="6160"/>
              </a:lnSpc>
              <a:spcBef>
                <a:spcPct val="0"/>
              </a:spcBef>
            </a:pPr>
            <a:r>
              <a:rPr lang="en-US" sz="4400">
                <a:solidFill>
                  <a:srgbClr val="FDFDFD"/>
                </a:solidFill>
                <a:latin typeface="Harmattan"/>
                <a:ea typeface="Harmattan"/>
                <a:cs typeface="Harmattan"/>
                <a:sym typeface="Harmattan"/>
              </a:rPr>
              <a:t> </a:t>
            </a:r>
          </a:p>
          <a:p>
            <a:pPr algn="l">
              <a:lnSpc>
                <a:spcPts val="6160"/>
              </a:lnSpc>
              <a:spcBef>
                <a:spcPct val="0"/>
              </a:spcBef>
            </a:pPr>
            <a:r>
              <a:rPr lang="en-US" sz="4400">
                <a:solidFill>
                  <a:srgbClr val="FDFDFD"/>
                </a:solidFill>
                <a:latin typeface="Harmattan"/>
                <a:ea typeface="Harmattan"/>
                <a:cs typeface="Harmattan"/>
                <a:sym typeface="Harmattan"/>
              </a:rPr>
              <a:t>**4. How can you make passengers, especially women, feel safer in your cab?** </a:t>
            </a:r>
          </a:p>
          <a:p>
            <a:pPr algn="l">
              <a:lnSpc>
                <a:spcPts val="6160"/>
              </a:lnSpc>
              <a:spcBef>
                <a:spcPct val="0"/>
              </a:spcBef>
            </a:pPr>
            <a:r>
              <a:rPr lang="en-US" sz="4400">
                <a:solidFill>
                  <a:srgbClr val="FDFDFD"/>
                </a:solidFill>
                <a:latin typeface="Harmattan"/>
                <a:ea typeface="Harmattan"/>
                <a:cs typeface="Harmattan"/>
                <a:sym typeface="Harmattan"/>
              </a:rPr>
              <a:t>Example: By keeping conversations professional, not asking personal questions, and ensuring the ride follows the safest route without deviation unless requested.</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DAGRythmCC0</dc:identifier>
  <dcterms:modified xsi:type="dcterms:W3CDTF">2011-08-01T06:04:30Z</dcterms:modified>
  <cp:revision>1</cp:revision>
  <dc:title>posh training</dc:title>
</cp:coreProperties>
</file>